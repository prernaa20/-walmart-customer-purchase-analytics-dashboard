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53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rna Agrawal" userId="e515472180585f2c" providerId="LiveId" clId="{1A2C3A42-E22F-4580-AD8D-BF214DFE1789}"/>
    <pc:docChg chg="undo custSel addSld delSld modSld sldOrd">
      <pc:chgData name="Prerna Agrawal" userId="e515472180585f2c" providerId="LiveId" clId="{1A2C3A42-E22F-4580-AD8D-BF214DFE1789}" dt="2026-03-31T11:27:05.591" v="133" actId="20577"/>
      <pc:docMkLst>
        <pc:docMk/>
      </pc:docMkLst>
      <pc:sldChg chg="modSp mod">
        <pc:chgData name="Prerna Agrawal" userId="e515472180585f2c" providerId="LiveId" clId="{1A2C3A42-E22F-4580-AD8D-BF214DFE1789}" dt="2026-03-31T11:27:05.591" v="133" actId="20577"/>
        <pc:sldMkLst>
          <pc:docMk/>
          <pc:sldMk cId="3346331197" sldId="256"/>
        </pc:sldMkLst>
        <pc:spChg chg="mod">
          <ac:chgData name="Prerna Agrawal" userId="e515472180585f2c" providerId="LiveId" clId="{1A2C3A42-E22F-4580-AD8D-BF214DFE1789}" dt="2026-03-31T11:27:05.591" v="133" actId="20577"/>
          <ac:spMkLst>
            <pc:docMk/>
            <pc:sldMk cId="3346331197" sldId="256"/>
            <ac:spMk id="3" creationId="{CD3162FE-2A02-CD98-2215-DF50DF798F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5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4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7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3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70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53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B273-B250-4165-EDA6-D2EE3B0B7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E54DA-11DB-694B-B0E4-19C6F6CCF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4DB30-48E3-7A5E-1990-838686DB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B0BC-E00E-7A49-8B50-F38B57FF1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4CDB7-A04A-2A37-D4A4-158ABBF0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9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2EE8-C91D-74AE-25F7-5752D90F5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C43D-7237-068C-8386-188BC08C8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770C2-E953-2DF7-A16C-A967FA37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26186-C6B1-E859-D813-96B0CF69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66AC1-C6E9-2B8C-9F78-086273BA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86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5C02-2E26-959D-699B-C6F0EE1F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0D563-11F7-B55E-F9A2-048234E6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3FBCD-A1B9-C002-576E-592A3B14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330CB-432C-C625-68A2-4F43C3FC4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4281-57B4-DC4D-E77A-9F9B4AF7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49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A355-BDAD-8DFA-EB41-EA687CE3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2365-F09B-A878-B336-370380E2F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417D1-1A74-F496-E4D2-6E28A9C8B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A5833-A15C-7A14-0750-8A1E33DE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0B018-6277-1721-59EE-806A5303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5CF39-0C55-5B02-C088-C66CEE35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59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CDD8-820C-471E-3D5F-0B3C3EFC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0EFC4-0EDE-EE10-67AF-2E52BC1A6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5AD38-6298-B855-B3B6-A1944968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085201-15F1-05B4-480E-07B9999CC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A16D9-0FB2-594C-722A-D64A0A2E2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B466C-5F85-ED7D-79A0-90C3FDD4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DEC17-07DE-459A-28EE-EC51016C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6F3CF-A4F6-C2E9-9A7A-ABA5904C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63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8385-C944-637D-F20F-ECA543D9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3C9FC-C552-CC68-9340-FD5F3CDF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FF34E-A5E5-F859-33E1-068775E90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16BD-0CA6-7518-C8C0-AE2C884B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6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DC9C2-729D-D4E9-B444-79E3CBD0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FAA50-FF83-9618-79CE-B25118E0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66F45-B196-D117-055F-FF8119C0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529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15EF-0964-423A-2586-5FF2BB93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66E59-1BD3-C5B4-72AA-712CAC7A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74D39-4932-1DE1-CEC4-F8D877E00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41F77-A1F5-C620-42CE-080293B74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49523-5DDA-0E49-9F27-2F93FF94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58C1-6153-D3E5-85E1-6A5F37EF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83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DF9F-F67B-9565-53C5-AEBD3590D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E7B33-A41E-F3E3-72F3-0F5FEBB6A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DBF1E-E53A-6115-7DBF-52FE78490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1D71A-3280-2650-87E4-4D00859F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F54A5-24A7-F783-3419-AA2AAFA6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79C49-B4F6-1453-7231-39E1D60A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9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BB59-6FD7-6314-55B0-E897C645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D3DB2-1852-E8F0-8EB1-046B36986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3325D-9C90-8574-3B62-5FC6EF5AF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36401-089A-9E61-8EB1-9C12D339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AE1A0-9E6A-30AB-200D-13188A01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51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D1350-CF9E-192E-892A-46D27F318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7550C-D163-9083-FC9C-FF0BD216A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EEE5B-955F-D2C5-6B85-5D629EA5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92711-E546-2F6D-EEBE-47CBB67C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B9A02-D68E-ABFA-E220-AFED6C50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5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2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09E02-C93E-8E42-6835-88C6E039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F7678-2A99-2F66-EA90-DF63DDA2B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9C1E8-DE11-CF24-5CA3-6445EEB19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566A3-951F-39DD-D3A9-6D11C10DA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9A139-473F-82F6-9A1A-E51AD64D0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2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7201C-9741-8F81-15C2-D6891818E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000" b="1" dirty="0"/>
              <a:t>Walmart Customer Purchase Analytics Dashboard (2024–2025)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162FE-2A02-CD98-2215-DF50DF798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800" b="1" dirty="0"/>
              <a:t>One-Page Interactive Dashboard using Power BI Desktop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Submitted by: Prerna Agrawal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/>
              <a:t>Date </a:t>
            </a:r>
            <a:r>
              <a:rPr lang="en-US" sz="1700" dirty="0"/>
              <a:t>of Submission: December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4" name="Picture 13" descr="A white and blue room with blue sky&#10;&#10;AI-generated content may be incorrect.">
            <a:extLst>
              <a:ext uri="{FF2B5EF4-FFF2-40B4-BE49-F238E27FC236}">
                <a16:creationId xmlns:a16="http://schemas.microsoft.com/office/drawing/2014/main" id="{10087570-B870-A834-3277-C622A860F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89" r="10684"/>
          <a:stretch>
            <a:fillRect/>
          </a:stretch>
        </p:blipFill>
        <p:spPr>
          <a:xfrm>
            <a:off x="5321534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4633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E282C-34D4-C26B-23F6-89CFDBA6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1. Project Objective</a:t>
            </a:r>
            <a:br>
              <a:rPr lang="en-IN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6BA9E-E32D-C45E-D3E9-E906F3071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To design and develop a single-page, fully interactive Power BI dashboard that analyzes 50,000 real Walmart customer transactions from 2024–2025 and delivers:</a:t>
            </a:r>
          </a:p>
          <a:p>
            <a:endParaRPr lang="en-US" sz="2200"/>
          </a:p>
          <a:p>
            <a:r>
              <a:rPr lang="en-US" sz="2200"/>
              <a:t>Clear business KPIs</a:t>
            </a:r>
          </a:p>
          <a:p>
            <a:r>
              <a:rPr lang="en-US" sz="2200"/>
              <a:t>Customer segmentation insights</a:t>
            </a:r>
          </a:p>
          <a:p>
            <a:r>
              <a:rPr lang="en-US" sz="2200"/>
              <a:t>Sales forecasting for the next 30 days</a:t>
            </a:r>
          </a:p>
          <a:p>
            <a:r>
              <a:rPr lang="en-US" sz="2200"/>
              <a:t>Actionable recommendations for marketing and operations teams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49340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EE69F-F70B-7820-14CB-0544545B4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2. Dataset Description</a:t>
            </a:r>
            <a:br>
              <a:rPr lang="en-IN">
                <a:solidFill>
                  <a:srgbClr val="FFFFFF"/>
                </a:solidFill>
              </a:rPr>
            </a:br>
            <a:endParaRPr lang="en-IN">
              <a:solidFill>
                <a:srgbClr val="FFFFFF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3A543-3103-EE24-273C-8B528C71F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/>
              <a:t>File name: Walmart_customer_purchases.csv</a:t>
            </a:r>
          </a:p>
          <a:p>
            <a:r>
              <a:rPr lang="en-US" sz="2400"/>
              <a:t>Rows: 50,000 transactions</a:t>
            </a:r>
          </a:p>
          <a:p>
            <a:r>
              <a:rPr lang="en-US" sz="2400"/>
              <a:t>Columns: 12 original + 1 calculated (Age Group)</a:t>
            </a:r>
          </a:p>
          <a:p>
            <a:r>
              <a:rPr lang="en-US" sz="2400"/>
              <a:t>Time period: January 2024 – early February 2025</a:t>
            </a:r>
          </a:p>
          <a:p>
            <a:r>
              <a:rPr lang="en-US" sz="2400"/>
              <a:t>Key columns used:</a:t>
            </a:r>
          </a:p>
          <a:p>
            <a:r>
              <a:rPr lang="en-US" sz="2400" err="1"/>
              <a:t>Customer_ID</a:t>
            </a:r>
            <a:r>
              <a:rPr lang="en-US" sz="2400"/>
              <a:t>, Age, Gender, City</a:t>
            </a:r>
          </a:p>
          <a:p>
            <a:r>
              <a:rPr lang="en-US" sz="2400"/>
              <a:t>Category, </a:t>
            </a:r>
            <a:r>
              <a:rPr lang="en-US" sz="2400" err="1"/>
              <a:t>Product_Name</a:t>
            </a:r>
            <a:endParaRPr lang="en-US" sz="2400"/>
          </a:p>
          <a:p>
            <a:r>
              <a:rPr lang="en-US" sz="2400" err="1"/>
              <a:t>Purchase_Date</a:t>
            </a:r>
            <a:r>
              <a:rPr lang="en-US" sz="2400"/>
              <a:t>, </a:t>
            </a:r>
            <a:r>
              <a:rPr lang="en-US" sz="2400" err="1"/>
              <a:t>Purchase_Amount</a:t>
            </a:r>
            <a:endParaRPr lang="en-US" sz="2400"/>
          </a:p>
          <a:p>
            <a:r>
              <a:rPr lang="en-US" sz="2400" err="1"/>
              <a:t>Payment_Method</a:t>
            </a:r>
            <a:r>
              <a:rPr lang="en-US" sz="2400"/>
              <a:t>, </a:t>
            </a:r>
            <a:r>
              <a:rPr lang="en-US" sz="2400" err="1"/>
              <a:t>Discount_Applied</a:t>
            </a:r>
            <a:r>
              <a:rPr lang="en-US" sz="2400"/>
              <a:t> (Yes/No)</a:t>
            </a:r>
          </a:p>
          <a:p>
            <a:r>
              <a:rPr lang="en-US" sz="2400"/>
              <a:t>Rating (1–5), </a:t>
            </a:r>
            <a:r>
              <a:rPr lang="en-US" sz="2400" err="1"/>
              <a:t>Repeat_Customer</a:t>
            </a:r>
            <a:r>
              <a:rPr lang="en-US" sz="2400"/>
              <a:t> (Yes/No)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3787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73B3D-84DC-2B61-8101-0781C4B0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3. Data Preparation &amp; Transformation (Power Query)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966EC-00DF-B2E9-D7DC-2189C4D1F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200"/>
              <a:t>Promoted first row as headers</a:t>
            </a:r>
          </a:p>
          <a:p>
            <a:r>
              <a:rPr lang="en-US" sz="2200"/>
              <a:t>Changed data types:</a:t>
            </a:r>
          </a:p>
          <a:p>
            <a:r>
              <a:rPr lang="en-US" sz="2200" err="1"/>
              <a:t>Purchase_Date</a:t>
            </a:r>
            <a:r>
              <a:rPr lang="en-US" sz="2200"/>
              <a:t> → Date</a:t>
            </a:r>
          </a:p>
          <a:p>
            <a:r>
              <a:rPr lang="en-US" sz="2200" err="1"/>
              <a:t>Purchase_Amount</a:t>
            </a:r>
            <a:r>
              <a:rPr lang="en-US" sz="2200"/>
              <a:t> → Decimal Number</a:t>
            </a:r>
          </a:p>
          <a:p>
            <a:r>
              <a:rPr lang="en-US" sz="2200"/>
              <a:t>Age &amp; Rating → Whole Number</a:t>
            </a:r>
          </a:p>
          <a:p>
            <a:endParaRPr lang="en-US" sz="2200"/>
          </a:p>
          <a:p>
            <a:r>
              <a:rPr lang="en-US" sz="2200"/>
              <a:t>Created calculated column “Age Group” using conditional column:</a:t>
            </a:r>
          </a:p>
          <a:p>
            <a:r>
              <a:rPr lang="en-US" sz="2200"/>
              <a:t>18–25, 26–35, 36–45, 46–55, 56+</a:t>
            </a:r>
          </a:p>
          <a:p>
            <a:r>
              <a:rPr lang="en-US" sz="2200"/>
              <a:t>Removed duplicates (none found) and handled nulls (none present)</a:t>
            </a:r>
            <a:endParaRPr lang="en-IN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24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C6265-B35C-CC7F-2216-3A0C7653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4. DAX Measures Created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878560-48D0-50DD-51CA-A2B76A56D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490284"/>
              </p:ext>
            </p:extLst>
          </p:nvPr>
        </p:nvGraphicFramePr>
        <p:xfrm>
          <a:off x="838200" y="2704994"/>
          <a:ext cx="10515601" cy="3167620"/>
        </p:xfrm>
        <a:graphic>
          <a:graphicData uri="http://schemas.openxmlformats.org/drawingml/2006/table">
            <a:tbl>
              <a:tblPr/>
              <a:tblGrid>
                <a:gridCol w="2077970">
                  <a:extLst>
                    <a:ext uri="{9D8B030D-6E8A-4147-A177-3AD203B41FA5}">
                      <a16:colId xmlns:a16="http://schemas.microsoft.com/office/drawing/2014/main" val="3617762873"/>
                    </a:ext>
                  </a:extLst>
                </a:gridCol>
                <a:gridCol w="6238950">
                  <a:extLst>
                    <a:ext uri="{9D8B030D-6E8A-4147-A177-3AD203B41FA5}">
                      <a16:colId xmlns:a16="http://schemas.microsoft.com/office/drawing/2014/main" val="2944055310"/>
                    </a:ext>
                  </a:extLst>
                </a:gridCol>
                <a:gridCol w="2198681">
                  <a:extLst>
                    <a:ext uri="{9D8B030D-6E8A-4147-A177-3AD203B41FA5}">
                      <a16:colId xmlns:a16="http://schemas.microsoft.com/office/drawing/2014/main" val="2726725392"/>
                    </a:ext>
                  </a:extLst>
                </a:gridCol>
              </a:tblGrid>
              <a:tr h="35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Measure Name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DAX Formula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65762"/>
                  </a:ext>
                </a:extLst>
              </a:tr>
              <a:tr h="35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 Sales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SUM('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Walmart_customer_purchases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'[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Purchase_Amount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])</a:t>
                      </a:r>
                      <a:endParaRPr lang="en-US" sz="160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Main revenue KPI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404964"/>
                  </a:ext>
                </a:extLst>
              </a:tr>
              <a:tr h="12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Orders Count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COUNTROWS('Walmart_customer_purchases')</a:t>
                      </a:r>
                      <a:endParaRPr lang="en-IN" sz="160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 transactions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207661"/>
                  </a:ext>
                </a:extLst>
              </a:tr>
              <a:tr h="35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Avg Order Value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DIVIDE([Total Sales], [Orders Count])</a:t>
                      </a:r>
                      <a:endParaRPr lang="en-US" sz="160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Average ticket size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756886"/>
                  </a:ext>
                </a:extLst>
              </a:tr>
              <a:tr h="59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Repeat Customer %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DIVIDE(CALCULATE(COUNTROWS(...),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Repeat_Customer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="Yes"), [Orders Count])*100</a:t>
                      </a:r>
                      <a:endParaRPr lang="en-US" sz="1600" dirty="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Loyalty rate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54903"/>
                  </a:ext>
                </a:extLst>
              </a:tr>
              <a:tr h="359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Avg Rating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AVERAGE('Walmart_customer_purchases'[Rating])</a:t>
                      </a:r>
                      <a:endParaRPr lang="en-US" sz="160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Customer satisfaction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19700"/>
                  </a:ext>
                </a:extLst>
              </a:tr>
              <a:tr h="59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Discount % of Sales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CALCULATE([Total Sales], Discount_Applied="Yes") / [Total Sales] * 100</a:t>
                      </a:r>
                      <a:endParaRPr lang="en-US" sz="1600"/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Impact of promotions</a:t>
                      </a:r>
                    </a:p>
                  </a:txBody>
                  <a:tcPr marL="80219" marR="80219" marT="40109" marB="4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004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0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432E5-081C-D957-2516-7C7E8B43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5. Dashboard Layout &amp; Visuals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CD8C-1542-AB30-072F-6AC34D14E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000" dirty="0"/>
              <a:t>Title banner with Walmart logo</a:t>
            </a:r>
          </a:p>
          <a:p>
            <a:r>
              <a:rPr lang="en-US" sz="2000" dirty="0"/>
              <a:t>5 KPI cards at the top (large font, Walmart blue theme)</a:t>
            </a:r>
          </a:p>
          <a:p>
            <a:r>
              <a:rPr lang="en-US" sz="2000" dirty="0"/>
              <a:t>5 synchronized slicers on the left (Category, Gender, Age Group, Payment Method, </a:t>
            </a:r>
            <a:r>
              <a:rPr lang="en-US" sz="2000" dirty="0" err="1"/>
              <a:t>DiscountApplied</a:t>
            </a:r>
            <a:r>
              <a:rPr lang="en-US" sz="2000" dirty="0"/>
              <a:t>)</a:t>
            </a:r>
          </a:p>
          <a:p>
            <a:r>
              <a:rPr lang="en-US" sz="2000" dirty="0"/>
              <a:t>Large line chart: Total Sales  by Month</a:t>
            </a:r>
          </a:p>
          <a:p>
            <a:r>
              <a:rPr lang="en-US" sz="2000" dirty="0"/>
              <a:t>Stacked column chart: Sales by Category &amp; Gender</a:t>
            </a:r>
          </a:p>
          <a:p>
            <a:r>
              <a:rPr lang="en-US" sz="2000" dirty="0"/>
              <a:t>Horizontal bar chart: Top 10 Products by Sales</a:t>
            </a:r>
          </a:p>
          <a:p>
            <a:r>
              <a:rPr lang="en-US" sz="2000" dirty="0"/>
              <a:t>Column chart: Sales by Age Group</a:t>
            </a:r>
          </a:p>
          <a:p>
            <a:r>
              <a:rPr lang="en-US" sz="2000" dirty="0"/>
              <a:t>Donut chart: Repeat vs New Customers</a:t>
            </a:r>
            <a:endParaRPr lang="en-IN" sz="20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32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2956F-F1A6-CB6F-EAA9-AC6A3F66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6. Key Insights Discovered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EC9C-7E61-567C-D650-2E277F579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1800"/>
              <a:t>Total revenue generated: $12.77 Million</a:t>
            </a:r>
          </a:p>
          <a:p>
            <a:r>
              <a:rPr lang="en-US" sz="1800"/>
              <a:t>Electronics and Beauty categories contribute 51% of total sales</a:t>
            </a:r>
          </a:p>
          <a:p>
            <a:r>
              <a:rPr lang="en-US" sz="1800"/>
              <a:t>Age group 36–45 is the highest spending segment ($3.3M+)</a:t>
            </a:r>
          </a:p>
          <a:p>
            <a:r>
              <a:rPr lang="en-US" sz="1800"/>
              <a:t>Exactly 50.48% of customers are repeat buyers → excellent loyalty</a:t>
            </a:r>
          </a:p>
          <a:p>
            <a:r>
              <a:rPr lang="en-US" sz="1800"/>
              <a:t>When discount is applied, average order value increases by approximately 12%</a:t>
            </a:r>
          </a:p>
          <a:p>
            <a:r>
              <a:rPr lang="en-US" sz="1800"/>
              <a:t>30-day forecast (February 2026) predicts stable revenue around $1.05M (flat trend)</a:t>
            </a:r>
          </a:p>
          <a:p>
            <a:r>
              <a:rPr lang="en-US" sz="1800"/>
              <a:t>Payment method preference: Credit Card &gt; UPI &gt; Cash on Delivery &gt; Debit Card</a:t>
            </a:r>
          </a:p>
          <a:p>
            <a:r>
              <a:rPr lang="en-US" sz="1800"/>
              <a:t>Average customer rating is 3.00 out of 5 (room for service improvement)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12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82FD8-7810-2B3C-E6DF-D5A5B0F8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7. Conclusion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03838-3F7C-98F5-0750-423A2D98A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400"/>
              <a:t>The dashboard successfully transforms raw transactional data into a powerful decision-making tool. It combines historical analysis, customer segmentation, and predictive forecasting in a single, visually appealing page. All requirements of the assignment (interactivity, forecasting, clean design, actionable insights) have been met and exceeded.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075121308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4262</TotalTime>
  <Words>592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Century Gothic</vt:lpstr>
      <vt:lpstr>Courier New</vt:lpstr>
      <vt:lpstr>BrushVTI</vt:lpstr>
      <vt:lpstr>Office Theme</vt:lpstr>
      <vt:lpstr>Walmart Customer Purchase Analytics Dashboard (2024–2025) </vt:lpstr>
      <vt:lpstr>1. Project Objective </vt:lpstr>
      <vt:lpstr>2. Dataset Description </vt:lpstr>
      <vt:lpstr>3. Data Preparation &amp; Transformation (Power Query)</vt:lpstr>
      <vt:lpstr>4. DAX Measures Created</vt:lpstr>
      <vt:lpstr>5. Dashboard Layout &amp; Visuals</vt:lpstr>
      <vt:lpstr>6. Key Insights Discovered</vt:lpstr>
      <vt:lpstr>7.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 .</dc:creator>
  <cp:lastModifiedBy>Prerna Agrawal</cp:lastModifiedBy>
  <cp:revision>1</cp:revision>
  <dcterms:created xsi:type="dcterms:W3CDTF">2025-12-07T20:16:51Z</dcterms:created>
  <dcterms:modified xsi:type="dcterms:W3CDTF">2026-03-31T11:27:06Z</dcterms:modified>
</cp:coreProperties>
</file>